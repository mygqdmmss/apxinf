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331720"/>
          </a:xfrm>
          <a:prstGeom prst="roundRect">
            <a:avLst>
              <a:gd name="adj" fmla="val 4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FC2F0"/>
                </a:solidFill>
                <a:latin typeface="Microsoft YaHei"/>
              </a:rPr>
              <a:t>项目6 · Agent for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105156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4090 能飞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5D9EE"/>
                </a:solidFill>
                <a:latin typeface="Microsoft YaHei"/>
              </a:rPr>
              <a:t>Qwen3.8-27B W4A16 单卡 RTX 4090 推理引擎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9FBEDE"/>
                </a:solidFill>
                <a:latin typeface="Microsoft YaHei"/>
              </a:rPr>
              <a:t>一张卡、4.6 GiB 余量，从零实现 64 层混合架构；16K 首 token 从 27 分钟到 34 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66CC"/>
                </a:solidFill>
                <a:latin typeface="Microsoft YaHei"/>
              </a:rPr>
              <a:t>架构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48 GDN + 16 全注意力，共 64 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697480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66CC"/>
                </a:solidFill>
                <a:latin typeface="Microsoft YaHei"/>
              </a:rPr>
              <a:t>量化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compressed-tensors W4A16 group-32 asymmetric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6440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66CC"/>
                </a:solidFill>
                <a:latin typeface="Microsoft YaHei"/>
              </a:rPr>
              <a:t>硬件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单张 RTX 4090 (SM89, 24 GiB)，TP=PP=DP=1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6440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66CC"/>
                </a:solidFill>
                <a:latin typeface="Microsoft YaHei"/>
              </a:rPr>
              <a:t>提交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Consolas"/>
              </a:rPr>
              <a:t>commit 06993a2d2642c6f7177b57493b797d5d537e4d64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66CC"/>
                </a:solidFill>
                <a:latin typeface="Microsoft YaHei"/>
              </a:rPr>
              <a:t>团队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程仁龙（负责人）· 王天民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64408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66CC"/>
                </a:solidFill>
                <a:latin typeface="Microsoft YaHei"/>
              </a:rPr>
              <a:t>命名说明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商品名 Qwen3.8；checkpoint 内 HF 架构为 qwen3_5，代码模块因此名为 qwen35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41648"/>
            <a:ext cx="10515600" cy="1700784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420624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D24"/>
                </a:solidFill>
                <a:latin typeface="Microsoft YaHei"/>
              </a:rPr>
              <a:t>本次汇报的四条主线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373"/>
                </a:solidFill>
                <a:latin typeface="Microsoft YaHei"/>
              </a:rPr>
              <a:t>① 取得文本 eligibility：协议 12/12、公开功能 6/6、200 请求 soak 100%、7 个性能 cell 全部有效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373"/>
                </a:solidFill>
                <a:latin typeface="Microsoft YaHei"/>
              </a:rPr>
              <a:t>② 用可回滚的配对实验做性能工程：九项接受、八项拒绝，TTFT 约 47 倍、TPOT 约 2 倍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373"/>
                </a:solidFill>
                <a:latin typeface="Microsoft YaHei"/>
              </a:rPr>
              <a:t>③ 交付双 bonus：多模态图文链路（探针 4/4、文本数值零变化）+ C4 四路并发（官方校准全门通过，goodput 23.5 tok/s）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C0392B"/>
                </a:solidFill>
                <a:latin typeface="Microsoft YaHei"/>
              </a:rPr>
              <a:t>④ 如实报告边界：无平台批准的 scorer 产物，不声称任何评分结论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Microsoft YaHei"/>
              </a:rPr>
              <a:t>所有数据均来自实测记录（/tmp/apxinf-evidence/ 与 REPORT.md），无估算值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Microsoft YaHe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Microsoft YaHei"/>
              </a:rPr>
              <a:t>成果总览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" y="1682496"/>
            <a:ext cx="2313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0E8A4F"/>
                </a:solidFill>
                <a:latin typeface="Microsoft YaHei"/>
              </a:rPr>
              <a:t>47×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267712"/>
            <a:ext cx="2313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TTFT 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23744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3"/>
                </a:solidFill>
                <a:latin typeface="Microsoft YaHei"/>
              </a:rPr>
              <a:t>1K：78.09 s → 1.63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75304" y="1682496"/>
            <a:ext cx="2313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0E8A4F"/>
                </a:solidFill>
                <a:latin typeface="Microsoft YaHei"/>
              </a:rPr>
              <a:t>2.0×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2267712"/>
            <a:ext cx="2313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TPOT 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523744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3"/>
                </a:solidFill>
                <a:latin typeface="Microsoft YaHei"/>
              </a:rPr>
              <a:t>1K：133.7 ms → 66.5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64224" y="1682496"/>
            <a:ext cx="2313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0066CC"/>
                </a:solidFill>
                <a:latin typeface="Microsoft YaHei"/>
              </a:rPr>
              <a:t>7/7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267712"/>
            <a:ext cx="2313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性能 cell 有效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523744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3"/>
                </a:solidFill>
                <a:latin typeface="Microsoft YaHei"/>
              </a:rPr>
              <a:t>success 5/5，最差 CV 8.1%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55448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53144" y="1682496"/>
            <a:ext cx="2313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0066CC"/>
                </a:solidFill>
                <a:latin typeface="Microsoft YaHe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2267712"/>
            <a:ext cx="2313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200 请求 soak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523744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3"/>
                </a:solidFill>
                <a:latin typeface="Microsoft YaHei"/>
              </a:rPr>
              <a:t>五项 reliability 全为真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1546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D24"/>
                </a:solidFill>
                <a:latin typeface="Microsoft YaHei"/>
              </a:rPr>
              <a:t>七个基础 cell：优化前 → 优化后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02152"/>
            <a:ext cx="4846320" cy="288036"/>
          </a:xfrm>
          <a:prstGeom prst="roundRect">
            <a:avLst>
              <a:gd name="adj" fmla="val 4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22376" y="3502152"/>
            <a:ext cx="120700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cell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93976" y="3502152"/>
            <a:ext cx="111556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优化前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4136" y="3502152"/>
            <a:ext cx="102412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优化后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502152"/>
            <a:ext cx="84124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倍数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90188"/>
            <a:ext cx="120700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TTFT 1K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93976" y="3790188"/>
            <a:ext cx="111556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78.09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4136" y="3790188"/>
            <a:ext cx="102412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1.63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6" y="3790188"/>
            <a:ext cx="84124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47.9×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078224"/>
            <a:ext cx="4846320" cy="288036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22376" y="4078224"/>
            <a:ext cx="120700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TTFT 2K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93976" y="4078224"/>
            <a:ext cx="111556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159.19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74136" y="4078224"/>
            <a:ext cx="102412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3.31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078224"/>
            <a:ext cx="84124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48.1×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4366260"/>
            <a:ext cx="120700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TTFT 4K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93976" y="4366260"/>
            <a:ext cx="111556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320.40 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74136" y="4366260"/>
            <a:ext cx="102412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7.01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2856" y="4366260"/>
            <a:ext cx="84124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45.7×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654296"/>
            <a:ext cx="4846320" cy="288036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22376" y="4654296"/>
            <a:ext cx="120700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TTFT 8K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93976" y="4654296"/>
            <a:ext cx="111556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676.52 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74136" y="4654296"/>
            <a:ext cx="102412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14.81 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6" y="4654296"/>
            <a:ext cx="84124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45.7×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" y="4942332"/>
            <a:ext cx="120700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TTFT 16K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93976" y="4942332"/>
            <a:ext cx="111556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1635.15 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74136" y="4942332"/>
            <a:ext cx="102412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34.58 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62856" y="4942332"/>
            <a:ext cx="84124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47.3×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5230368"/>
            <a:ext cx="4846320" cy="288036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22376" y="5230368"/>
            <a:ext cx="120700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TPOT 1K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93976" y="5230368"/>
            <a:ext cx="111556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133.7 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74136" y="5230368"/>
            <a:ext cx="102412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66.5 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62856" y="5230368"/>
            <a:ext cx="84124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2.01×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" y="5518404"/>
            <a:ext cx="120700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TPOT 8K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93976" y="5518404"/>
            <a:ext cx="111556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153.4 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74136" y="5518404"/>
            <a:ext cx="102412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67.3 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62856" y="5518404"/>
            <a:ext cx="84124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2.28×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315468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D24"/>
                </a:solidFill>
                <a:latin typeface="Microsoft YaHei"/>
              </a:rPr>
              <a:t>correctness 与稳定性门禁（全程未退让）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0" y="3520440"/>
            <a:ext cx="5486400" cy="2770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A1D24"/>
                </a:solidFill>
                <a:latin typeface="Microsoft YaHei"/>
              </a:rPr>
              <a:t>— 协议 gate 12/12 </a:t>
            </a:r>
            <a:r>
              <a:rPr sz="1250">
                <a:solidFill>
                  <a:srgbClr val="5A6373"/>
                </a:solidFill>
                <a:latin typeface="Microsoft YaHei"/>
              </a:rPr>
              <a:t>7 个负控全部 HTTP 400 + JSON error，且不污染服务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A1D24"/>
                </a:solidFill>
                <a:latin typeface="Microsoft YaHei"/>
              </a:rPr>
              <a:t>— 公开功能 6/6 精确 </a:t>
            </a:r>
            <a:r>
              <a:rPr sz="1250">
                <a:solidFill>
                  <a:srgbClr val="5A6373"/>
                </a:solidFill>
                <a:latin typeface="Microsoft YaHei"/>
              </a:rPr>
              <a:t>含三个 8K longdoc，EOS 提前终止正常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A1D24"/>
                </a:solidFill>
                <a:latin typeface="Microsoft YaHei"/>
              </a:rPr>
              <a:t>— 200 请求混合 soak 100% </a:t>
            </a:r>
            <a:r>
              <a:rPr sz="1250">
                <a:solidFill>
                  <a:srgbClr val="5A6373"/>
                </a:solidFill>
                <a:latin typeface="Microsoft YaHei"/>
              </a:rPr>
              <a:t>无 OOM / NaN / fallback / Xid，失败后可恢复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A1D24"/>
                </a:solidFill>
                <a:latin typeface="Microsoft YaHei"/>
              </a:rPr>
              <a:t>— proxy hidden 11/12 </a:t>
            </a:r>
            <a:r>
              <a:rPr sz="1250">
                <a:solidFill>
                  <a:srgbClr val="5A6373"/>
                </a:solidFill>
                <a:latin typeface="Microsoft YaHei"/>
              </a:rPr>
              <a:t>达到 ≥11/12 资格线（官方 hidden 集本机不可得）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A1D24"/>
                </a:solidFill>
                <a:latin typeface="Microsoft YaHei"/>
              </a:rPr>
              <a:t>— 多模态 + C4 双 bonus 交付 </a:t>
            </a:r>
            <a:r>
              <a:rPr sz="1250">
                <a:solidFill>
                  <a:srgbClr val="5A6373"/>
                </a:solidFill>
                <a:latin typeface="Microsoft YaHei"/>
              </a:rPr>
              <a:t>图文探针 4/4、混合 soak 36/36；C4 官方校准全门通过（Jain 0.9993，goodput 23.53 tok/s）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A1D24"/>
                </a:solidFill>
                <a:latin typeface="Microsoft YaHei"/>
              </a:rPr>
              <a:t>— 峰值显存 19958 MiB </a:t>
            </a:r>
            <a:r>
              <a:rPr sz="1250">
                <a:solidFill>
                  <a:srgbClr val="5A6373"/>
                </a:solidFill>
                <a:latin typeface="Microsoft YaHei"/>
              </a:rPr>
              <a:t>文本配置未超 24564 MiB；多模态配置峰值 20914 MiB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Microsoft YaHei"/>
              </a:rPr>
              <a:t>口径遵循合同：warmup 1 次 + 测 5 次取中位数，TTFT/TPOT 的 CV 均 ≤ 10%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Microsoft YaHe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Microsoft YaHei"/>
              </a:rPr>
              <a:t>任务边界与不可违反的约束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A1D24"/>
                </a:solidFill>
                <a:latin typeface="Microsoft YaHei"/>
              </a:rPr>
              <a:t>starter 仓库没有 Qwen3.8、没有 W4A16、没有 GDN、也没有 HTTP/SSE —— 本项目是从零建立的 vertical slice，而非在既有模块上接线。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2140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66CC"/>
                </a:solidFill>
                <a:latin typeface="Microsoft YaHei"/>
              </a:rPr>
              <a:t>模型结构的现实难点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120640" cy="3822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1A1D24"/>
                </a:solidFill>
                <a:latin typeface="Microsoft YaHei"/>
              </a:rPr>
              <a:t>— 64 层混合主干</a:t>
            </a:r>
            <a:r>
              <a:rPr sz="1250">
                <a:solidFill>
                  <a:srgbClr val="5A6373"/>
                </a:solidFill>
                <a:latin typeface="Microsoft YaHei"/>
              </a:rPr>
              <a:t>每四层三个 GDN（线性注意力）+ 一个全注意力，两类层有完全不同的请求状态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1A1D24"/>
                </a:solidFill>
                <a:latin typeface="Microsoft YaHei"/>
              </a:rPr>
              <a:t>— GDN 层</a:t>
            </a:r>
            <a:r>
              <a:rPr sz="1250">
                <a:solidFill>
                  <a:srgbClr val="5A6373"/>
                </a:solidFill>
                <a:latin typeface="Microsoft YaHei"/>
              </a:rPr>
              <a:t>16 key head / 48 value head / head_dim 128，因果卷积 ring buffer + FP32 recurrent state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1A1D24"/>
                </a:solidFill>
                <a:latin typeface="Microsoft YaHei"/>
              </a:rPr>
              <a:t>— 全注意力层</a:t>
            </a:r>
            <a:r>
              <a:rPr sz="1250">
                <a:solidFill>
                  <a:srgbClr val="5A6373"/>
                </a:solidFill>
                <a:latin typeface="Microsoft YaHei"/>
              </a:rPr>
              <a:t>24 Q / 4 KV head、head_dim 256，attn_output_gate、partial RoPE 仅前 64 维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1A1D24"/>
                </a:solidFill>
                <a:latin typeface="Microsoft YaHei"/>
              </a:rPr>
              <a:t>— 逐模块混合量化</a:t>
            </a:r>
            <a:r>
              <a:rPr sz="1250">
                <a:solidFill>
                  <a:srgbClr val="5A6373"/>
                </a:solidFill>
                <a:latin typeface="Microsoft YaHei"/>
              </a:rPr>
              <a:t>MLP 与投影为 packed W4，in_proj_a/b 与 conv/norm 为 BF16，不可统一走 W4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2140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Microsoft YaHei"/>
              </a:rPr>
              <a:t>合同硬约束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468880"/>
            <a:ext cx="5120640" cy="3822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1A1D24"/>
                </a:solidFill>
                <a:latin typeface="Microsoft YaHei"/>
              </a:rPr>
              <a:t>— 单卡固定</a:t>
            </a:r>
            <a:r>
              <a:rPr sz="1250">
                <a:solidFill>
                  <a:srgbClr val="5A6373"/>
                </a:solidFill>
                <a:latin typeface="Microsoft YaHei"/>
              </a:rPr>
              <a:t>禁止其他 GPU、多 GPU、CPU、vLLM、Transformers 作为服务 fallback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1A1D24"/>
                </a:solidFill>
                <a:latin typeface="Microsoft YaHei"/>
              </a:rPr>
              <a:t>— 不改评测件</a:t>
            </a:r>
            <a:r>
              <a:rPr sz="1250">
                <a:solidFill>
                  <a:srgbClr val="5A6373"/>
                </a:solidFill>
                <a:latin typeface="Microsoft YaHei"/>
              </a:rPr>
              <a:t>evaluation/ 下合同、生成器、scorer 一律不动，不手填汇总产物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1A1D24"/>
                </a:solidFill>
                <a:latin typeface="Microsoft YaHei"/>
              </a:rPr>
              <a:t>— 不硬编码</a:t>
            </a:r>
            <a:r>
              <a:rPr sz="1250">
                <a:solidFill>
                  <a:srgbClr val="5A6373"/>
                </a:solidFill>
                <a:latin typeface="Microsoft YaHei"/>
              </a:rPr>
              <a:t>不按 case ID、公开 token、已知答案或输出位置特判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1A1D24"/>
                </a:solidFill>
                <a:latin typeface="Microsoft YaHei"/>
              </a:rPr>
              <a:t>— health 必须真实</a:t>
            </a:r>
            <a:r>
              <a:rPr sz="1250">
                <a:solidFill>
                  <a:srgbClr val="5A6373"/>
                </a:solidFill>
                <a:latin typeface="Microsoft YaHei"/>
              </a:rPr>
              <a:t>capability 未验证通过前一律 fail closed；multimodal 直到证据链齐备才翻转为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Microsoft YaHei"/>
              </a:rPr>
              <a:t>分层原则：模型知道层序、状态与融合决策；CUDA backend 只暴露设备管理与单 kernel/单库调用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Microsoft YaHei"/>
              </a:rPr>
              <a:t>CORRECTNESS ·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Microsoft YaHei"/>
              </a:rPr>
              <a:t>第一层：取得文本 eligibility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1A1D24"/>
                </a:solidFill>
                <a:latin typeface="Microsoft YaHei"/>
              </a:rPr>
              <a:t>eligibility 是硬门：任一 reliability boolean 为假会直接令 eligible=false，不是从 10 分里扣分。因此先把门禁全部打绿，再谈性能。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84832"/>
            <a:ext cx="5852160" cy="329184"/>
          </a:xfrm>
          <a:prstGeom prst="roundRect">
            <a:avLst>
              <a:gd name="adj" fmla="val 4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2376" y="2084832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门禁项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9736" y="2084832"/>
            <a:ext cx="21214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6" y="2084832"/>
            <a:ext cx="16642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实测结果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414016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协议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9736" y="2414016"/>
            <a:ext cx="21214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malformed 400 + 6 负控 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2414016"/>
            <a:ext cx="16642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12/12 通过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43200"/>
            <a:ext cx="5852160" cy="329184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22376" y="2743200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公开功能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9736" y="2743200"/>
            <a:ext cx="21214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6/6 normalized exact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743200"/>
            <a:ext cx="16642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6/6 精确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072384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隐藏功能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9736" y="3072384"/>
            <a:ext cx="21214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≥ 11/12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3072384"/>
            <a:ext cx="16642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proxy 11/12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01568"/>
            <a:ext cx="5852160" cy="329184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22376" y="3401568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请求成功率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9736" y="3401568"/>
            <a:ext cx="21214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≥ 99%（目标 100%）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5736" y="3401568"/>
            <a:ext cx="16642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200/200 = 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3730752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五项 boolean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9736" y="3730752"/>
            <a:ext cx="21214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全部为真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5736" y="3730752"/>
            <a:ext cx="16642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全部为真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059936"/>
            <a:ext cx="5852160" cy="329184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22376" y="4059936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性能 cell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9736" y="4059936"/>
            <a:ext cx="21214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success 5/5、CV ≤ 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5736" y="4059936"/>
            <a:ext cx="16642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7/7 有效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08483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Microsoft YaHei"/>
              </a:rPr>
              <a:t>关键缺陷：客户端断连导致容量泄漏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450592"/>
            <a:ext cx="45720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现象 </a:t>
            </a:r>
            <a:r>
              <a:rPr sz="1200">
                <a:solidFill>
                  <a:srgbClr val="5A6373"/>
                </a:solidFill>
                <a:latin typeface="Microsoft YaHei"/>
              </a:rPr>
              <a:t>评测客户端在 8K 请求中被杀后，服务连续 653 秒返回 503，而 /health 始终 200 —— 看起来健康却拒绝一切请求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根因 </a:t>
            </a:r>
            <a:r>
              <a:rPr sz="1200">
                <a:solidFill>
                  <a:srgbClr val="5A6373"/>
                </a:solidFill>
                <a:latin typeface="Microsoft YaHei"/>
              </a:rPr>
              <a:t>取消信号无处可察：prefill 跑完才返回 session，而 HTTP 层只能从写 socket 失败感知断连，流式请求在此之前无帧可写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修复 </a:t>
            </a:r>
            <a:r>
              <a:rPr sz="1200">
                <a:solidFill>
                  <a:srgbClr val="5A6373"/>
                </a:solidFill>
                <a:latin typeface="Microsoft YaHei"/>
              </a:rPr>
              <a:t>socket EOF 监视 + 每 64-token block 边界检查取消，并把中止映射为 Cancelled 而非 Execution，避免误判服务不健康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结果 </a:t>
            </a:r>
            <a:r>
              <a:rPr sz="1200">
                <a:solidFill>
                  <a:srgbClr val="5A6373"/>
                </a:solidFill>
                <a:latin typeface="Microsoft YaHei"/>
              </a:rPr>
              <a:t>恢复时间 653 s → 4.86 s；新增 3 个不依赖 GPU 的回归测试，均在修复前失败、修复后通过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Microsoft YaHei"/>
              </a:rPr>
              <a:t>无平台批准的 trajectory reference，故 trajectory 标记 unverified，且未使用自捕获自评分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Microsoft YaHei"/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Microsoft YaHei"/>
              </a:rPr>
              <a:t>第二层：性能工程的实际路径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1A1D24"/>
                </a:solidFill>
                <a:latin typeface="Microsoft YaHei"/>
              </a:rPr>
              <a:t>十七次单变量配对实验，九项接受、八项拒绝。每项接受的改动都带一个 =0 回滚开关，并以位相等或有界漂移的测试守护。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6949440" cy="324612"/>
          </a:xfrm>
          <a:prstGeom prst="roundRect">
            <a:avLst>
              <a:gd name="adj" fmla="val 4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2376" y="2103120"/>
            <a:ext cx="30358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接受的改动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22776" y="2103120"/>
            <a:ext cx="21214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定位到的问题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8776" y="2103120"/>
            <a:ext cx="129844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端到端效果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427732"/>
            <a:ext cx="30358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Microsoft YaHei"/>
              </a:rPr>
              <a:t>release 构建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2776" y="2427732"/>
            <a:ext cx="21214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host 侧解释开销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2427732"/>
            <a:ext cx="129844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TPOT −18.3%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52344"/>
            <a:ext cx="6949440" cy="324612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22376" y="2752344"/>
            <a:ext cx="30358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Microsoft YaHei"/>
              </a:rPr>
              <a:t>关闭调试采集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6" y="2752344"/>
            <a:ext cx="21214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每 token 写盘与 stderr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752344"/>
            <a:ext cx="129844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TPOT −3.8%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076956"/>
            <a:ext cx="30358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Microsoft YaHei"/>
              </a:rPr>
              <a:t>W4 prefill 改 dequant+GEMM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2776" y="3076956"/>
            <a:ext cx="21214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每行重读整个权重矩阵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076956"/>
            <a:ext cx="129844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TTFT −74.3%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01568"/>
            <a:ext cx="6949440" cy="324612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22376" y="3401568"/>
            <a:ext cx="30358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Microsoft YaHei"/>
              </a:rPr>
              <a:t>packed W4 GEMV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2776" y="3401568"/>
            <a:ext cx="21214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128 B 事务只用 16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3401568"/>
            <a:ext cx="129844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TPOT −35.4%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3726180"/>
            <a:ext cx="30358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Microsoft YaHei"/>
              </a:rPr>
              <a:t>dequant scratch 池化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22776" y="3726180"/>
            <a:ext cx="21214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178 MB cudaMalloc 耗 3.2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3726180"/>
            <a:ext cx="129844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TTFT 1K −65%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050792"/>
            <a:ext cx="6949440" cy="324612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22376" y="4050792"/>
            <a:ext cx="30358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Microsoft YaHei"/>
              </a:rPr>
              <a:t>prefill 块 64 → 512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22776" y="4050792"/>
            <a:ext cx="21214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每块重复 dequant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8776" y="4050792"/>
            <a:ext cx="129844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TTFT 1K −69%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4375404"/>
            <a:ext cx="30358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Microsoft YaHei"/>
              </a:rPr>
              <a:t>attention 批量化 + 行协作 softmax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22776" y="4375404"/>
            <a:ext cx="21214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每线程重复扫描整行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8776" y="4375404"/>
            <a:ext cx="129844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16K TTFT −92%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2103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Microsoft YaHei"/>
              </a:rPr>
              <a:t>被拒绝的八项（同样重要）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2468880"/>
            <a:ext cx="3566160" cy="3822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· deferred GDN 状态检查：0 收益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· warp-per-output GEMV：−1.8%（噪声内）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· uint4 向量化加载：慢 26%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· 4 累加器数组：慢 17%（溢出到 local memory）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· 展开 + FMA 融合：慢 1.3%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· Marlin 位技巧 SIMD：慢 54%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· per-group 查表：设计阶段自我否决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· chunk 512 的保守顾虑：被显存复核推翻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Microsoft YaHei"/>
              </a:rPr>
              <a:t>接受条件：correctness 不降、CV ≤ 10%、端到端收益超过噪声；只有 kernel 变快而端到端无收益一律拒绝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Microsoft YaHei"/>
              </a:rPr>
              <a:t>DEEP DIVE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Microsoft YaHei"/>
              </a:rPr>
              <a:t>核心发现：16K 的瓶颈是 softmax 的 512 倍冗余扫描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93268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C0392B"/>
                </a:solidFill>
                <a:latin typeface="Consolas"/>
              </a:rPr>
              <a:t>for (c = 0; c &lt; valid_cols; c++)  // 这一行被 block 内每个线程各执行一遍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3"/>
                </a:solidFill>
                <a:latin typeface="Microsoft YaHei"/>
              </a:rPr>
              <a:t>256 个线程做完全相同的全行扫描，再乘以每行 ceil(cols/256) 个 block —— 每行被完整扫描 512 次，而正确做法只需两遍分区扫描。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7004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66CC"/>
                </a:solidFill>
                <a:latin typeface="Microsoft YaHei"/>
              </a:rPr>
              <a:t>定位过程：三次修正自己的判断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212080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① 单层模型只能解释 124 s / 408.7 s </a:t>
            </a:r>
            <a:r>
              <a:rPr sz="1200">
                <a:solidFill>
                  <a:srgbClr val="5A6373"/>
                </a:solidFill>
                <a:latin typeface="Microsoft YaHei"/>
              </a:rPr>
              <a:t>→ 改用“阶梯”测量（逐块递增 kv），发现单个 attention 层就要 25.05 s，16 层约 400 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② 怀疑 GEMM 形状退化 </a:t>
            </a:r>
            <a:r>
              <a:rPr sz="1200">
                <a:solidFill>
                  <a:srgbClr val="5A6373"/>
                </a:solidFill>
                <a:latin typeface="Microsoft YaHei"/>
              </a:rPr>
              <a:t>→ 重排使 M 从 6 变 512，仅降到 23.59 s，不是主因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③ 怀疑输出 stride </a:t>
            </a:r>
            <a:r>
              <a:rPr sz="1200">
                <a:solidFill>
                  <a:srgbClr val="5A6373"/>
                </a:solidFill>
                <a:latin typeface="Microsoft YaHei"/>
              </a:rPr>
              <a:t>→ 微基准显示 GEMM 仅 5.7 µs，交错与连续 stride 无差别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④ 真正的错在我的测量 </a:t>
            </a:r>
            <a:r>
              <a:rPr sz="1200">
                <a:solidFill>
                  <a:srgbClr val="5A6373"/>
                </a:solidFill>
                <a:latin typeface="Microsoft YaHei"/>
              </a:rPr>
              <a:t>→ 此前测 softmax 用了 kv_offset=0，valid_cols 平均仅 256 列；真实是 15872，换算 2234 ms 与实测 2082 ms 吻合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670048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E8A4F"/>
                </a:solidFill>
                <a:latin typeface="Microsoft YaHei"/>
              </a:rPr>
              <a:t>修复效果（双卡双副本验证）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035808"/>
            <a:ext cx="5029200" cy="329184"/>
          </a:xfrm>
          <a:prstGeom prst="roundRect">
            <a:avLst>
              <a:gd name="adj" fmla="val 4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91656" y="3035808"/>
            <a:ext cx="1892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测量项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9056" y="3035808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修复前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0616" y="3035808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修复后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2176" y="3035808"/>
            <a:ext cx="70408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倍数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3364992"/>
            <a:ext cx="1892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Microsoft YaHei"/>
              </a:rPr>
              <a:t>attention 阶梯（单层）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3364992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23.06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616" y="3364992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0.659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52176" y="3364992"/>
            <a:ext cx="70408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35.0×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94176"/>
            <a:ext cx="5029200" cy="329184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91656" y="3694176"/>
            <a:ext cx="1892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Microsoft YaHei"/>
              </a:rPr>
              <a:t>单次 sdpa（kv=16384）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694176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2053.7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3694176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13.7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52176" y="3694176"/>
            <a:ext cx="70408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150×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4023360"/>
            <a:ext cx="1892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Microsoft YaHei"/>
              </a:rPr>
              <a:t>服务 TTFT 8K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4023360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64.1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0616" y="4023360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17.8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52176" y="4023360"/>
            <a:ext cx="70408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3.6×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352544"/>
            <a:ext cx="5029200" cy="329184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91656" y="4352544"/>
            <a:ext cx="1892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Microsoft YaHei"/>
              </a:rPr>
              <a:t>服务 TTFT 16K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4352544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408.7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0616" y="4352544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31.9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52176" y="4352544"/>
            <a:ext cx="70408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12.8×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754879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改为一个 block 负责一行、256 线程分工 + shared memory 归约；每个线程只重写自己读过的元素，因而原地安全。max 归约与顺序无关，指数求和改为分区树形，属于已接受的同类 FP32 重结合。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Microsoft YaHei"/>
              </a:rPr>
              <a:t>公开功能 6/6 在修复后重新验证仍全部精确通过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Microsoft YaHei"/>
              </a:rPr>
              <a:t>DEEP DIVE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Microsoft YaHei"/>
              </a:rPr>
              <a:t>核心发现：两个“非计算”瓶颈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03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66CC"/>
                </a:solidFill>
                <a:latin typeface="Microsoft YaHei"/>
              </a:rPr>
              <a:t>① prefill 的 W4 投影退化成 M 个 GEMV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38528"/>
            <a:ext cx="5212080" cy="65836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2048256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C0392B"/>
                </a:solidFill>
                <a:latin typeface="Consolas"/>
              </a:rPr>
              <a:t>blockIdx.x = row * out_features + out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每个 block 各自重读所需权重行 ⇒ M 行 prefill 把整个权重矩阵搬运 M 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212080" cy="3547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证据 </a:t>
            </a:r>
            <a:r>
              <a:rPr sz="1200">
                <a:solidFill>
                  <a:srgbClr val="5A6373"/>
                </a:solidFill>
                <a:latin typeface="Microsoft YaHei"/>
              </a:rPr>
              <a:t>prefill 每 token 76 ms，decode 105 ms；64-token block 只比单步 decode 慢 46 倍却做了 64 倍的工作，批处理效率仅 1.03 倍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修复 </a:t>
            </a:r>
            <a:r>
              <a:rPr sz="1200">
                <a:solidFill>
                  <a:srgbClr val="5A6373"/>
                </a:solidFill>
                <a:latin typeface="Microsoft YaHei"/>
              </a:rPr>
              <a:t>大 M 时先 dequant 到 BF16 scratch 再交 tensor core GEMM，decode 保持 GEMV；解压逐位精确（assert_eq! 全量断言）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效果 </a:t>
            </a:r>
            <a:r>
              <a:rPr sz="1200">
                <a:solidFill>
                  <a:srgbClr val="5A6373"/>
                </a:solidFill>
                <a:latin typeface="Microsoft YaHei"/>
              </a:rPr>
              <a:t>1K TTFT 77.33 s → 19.87 s，公开功能仍 6/6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66CC"/>
                </a:solidFill>
                <a:latin typeface="Microsoft YaHei"/>
              </a:rPr>
              <a:t>② 80% 的 prefill 花在 cudaMalloc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38528"/>
            <a:ext cx="4937760" cy="315468"/>
          </a:xfrm>
          <a:prstGeom prst="roundRect">
            <a:avLst>
              <a:gd name="adj" fmla="val 4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91656" y="1938528"/>
            <a:ext cx="340156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微基准（单层归因）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7816" y="1938528"/>
            <a:ext cx="120700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耗时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253996"/>
            <a:ext cx="340156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Microsoft YaHei"/>
              </a:rPr>
              <a:t>GDN 层整体 prefill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7816" y="2253996"/>
            <a:ext cx="120700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16.7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569464"/>
            <a:ext cx="4937760" cy="315468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91656" y="2569464"/>
            <a:ext cx="340156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Microsoft YaHei"/>
              </a:rPr>
              <a:t>  其中 norm + out_proj + MLP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57816" y="2569464"/>
            <a:ext cx="120700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11.4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884932"/>
            <a:ext cx="340156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Microsoft YaHei"/>
              </a:rPr>
              <a:t>cudaMalloc+free 178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6" y="2884932"/>
            <a:ext cx="120700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3.22 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200400"/>
            <a:ext cx="4937760" cy="315468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91656" y="3200400"/>
            <a:ext cx="340156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Microsoft YaHei"/>
              </a:rPr>
              <a:t>cudaMalloc+free 4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7816" y="3200400"/>
            <a:ext cx="120700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3.7 µs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3515868"/>
            <a:ext cx="340156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Microsoft YaHei"/>
              </a:rPr>
              <a:t>单个 MLP 投影（含分配）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7816" y="3515868"/>
            <a:ext cx="120700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Consolas"/>
              </a:rPr>
              <a:t>3.92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886200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5A6373"/>
                </a:solidFill>
                <a:latin typeface="Microsoft YaHei"/>
              </a:rPr>
              <a:t>178 MB 的 dequant scratch 分配+释放要 3.22 ms，占一次完整 MLP 投影的 82%。每个 GDN 层每块有 7 次 W4 投影，各自新分配一次 —— 约 80% 的 prefill 时间是显存页表操作，不是算术。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E8A4F"/>
                </a:solidFill>
                <a:latin typeface="Microsoft YaHei"/>
              </a:rPr>
              <a:t>改为按尺寸类复用的 scratch 池后：GDN 层 prefill 16.7 → 5.6 ms，1K TTFT 5.76 s → 2.38 s，且 frozen 输出逐位不变。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Microsoft YaHei"/>
              </a:rPr>
              <a:t>两处根因都不是“kernel 算得慢”，而是访存与内存管理的结构问题 —— 靠实测归因才暴露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Microsoft YaHe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Microsoft YaHei"/>
              </a:rPr>
              <a:t>方法论：让结论可信的四件事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68249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66CC"/>
                </a:solidFill>
                <a:latin typeface="Microsoft YaHei"/>
              </a:rPr>
              <a:t>1. 四卡并行实验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75104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5A6373"/>
                </a:solidFill>
                <a:latin typeface="Microsoft YaHei"/>
              </a:rPr>
              <a:t>GPU1 只跑正式服务 A/B（带全局 flock），GPU0 做 profile 归因，GPU2/3 跑测试分片。一次验证周期从串行 35 s 降到 12 s；三种 chunk 配置的扫描一次 11 s 完成。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70048"/>
            <a:ext cx="10881360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2798064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66CC"/>
                </a:solidFill>
                <a:latin typeface="Microsoft YaHei"/>
              </a:rPr>
              <a:t>2. 微基准矩阵做成本归因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9067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5A6373"/>
                </a:solidFill>
                <a:latin typeface="Microsoft YaHei"/>
              </a:rPr>
              <a:t>为 W4 GEMV 构造三个诊断变体（只读权重 / 去 dequant / 完整），一次并行跑出「访存 41% + 乘加 21% + dequant 算术 39%」的分解，并证明访存已达峰值 81%，从此不再猜瓶颈。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85616"/>
            <a:ext cx="10881360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3913632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66CC"/>
                </a:solidFill>
                <a:latin typeface="Microsoft YaHei"/>
              </a:rPr>
              <a:t>3. 先证明位相等，再写 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5A6373"/>
                </a:solidFill>
                <a:latin typeface="Microsoft YaHei"/>
              </a:rPr>
              <a:t>Marlin 位技巧动工前先穷举验证：0x4300|q 恰为 128+q、BF16 减法精确、乘积 ≤13 位有效可被 FP32 精确保存 ⇒ 与生产路径必然位相等。正确性由数学保证而非事后调容差。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01184"/>
            <a:ext cx="10881360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66CC"/>
                </a:solidFill>
                <a:latin typeface="Microsoft YaHei"/>
              </a:rPr>
              <a:t>4. 对低于 5% 的结论强制双卡双副本复测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2180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5A6373"/>
                </a:solidFill>
                <a:latin typeface="Microsoft YaHei"/>
              </a:rPr>
              <a:t>一次三卡测量曾显示 4% 收益，双副本复测得 baseline 923/901 µs、候选 934/913 µs —— 卡间差异 2.4% 大于候选效应，实际慢 1.3%。该协议拦住了一个假阳性。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Microsoft YaHei"/>
              </a:rPr>
              <a:t>开发期共有三次“我的推理被数据推翻”的记录，全部写入 REPORT.md，作为决策依据而非隐藏项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Microsoft YaHei"/>
              </a:rPr>
              <a:t>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Microsoft YaHei"/>
              </a:rPr>
              <a:t>取舍：correctness / 性能 / 稳定性 / 显存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02412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E8A4F"/>
                </a:solidFill>
                <a:latin typeface="Microsoft YaHei"/>
              </a:rPr>
              <a:t>轨迹软目标 ⇄ TTFT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56816"/>
            <a:ext cx="10332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80" b="0">
                <a:solidFill>
                  <a:srgbClr val="5A6373"/>
                </a:solidFill>
                <a:latin typeface="Microsoft YaHei"/>
              </a:rPr>
              <a:t>W4 GEMM 与 packed GEMV 改变累加顺序，冻结轨迹前缀在 28 / 23 / 76 token 间变动。机制唯一：oracle 自身在第 23、28、76 步的 top1/top2 margin 恰为 0，任何容差都无法修。轨迹阈值为 0 且公开功能始终 6/6，故以 5 分软目标换 35 分主轴。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70048"/>
            <a:ext cx="10881360" cy="102412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066CC"/>
                </a:solidFill>
                <a:latin typeface="Microsoft YaHei"/>
              </a:rPr>
              <a:t>NaN 防护 ⇄ 速度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72384"/>
            <a:ext cx="10332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80" b="0">
                <a:solidFill>
                  <a:srgbClr val="5A6373"/>
                </a:solidFill>
                <a:latin typeface="Microsoft YaHei"/>
              </a:rPr>
              <a:t>曾把逐 op 有限性检查批量化为每 token 一次（去掉约 200 次同步）。实测零收益，于是保留更严格的逐 op 检查 —— 更安全的选项恰好也是免费的。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85616"/>
            <a:ext cx="10881360" cy="102412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390448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C0392B"/>
                </a:solidFill>
                <a:latin typeface="Microsoft YaHei"/>
              </a:rPr>
              <a:t>显存 ⇄ prefill 吞吐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10332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80" b="0">
                <a:solidFill>
                  <a:srgbClr val="5A6373"/>
                </a:solidFill>
                <a:latin typeface="Microsoft YaHei"/>
              </a:rPr>
              <a:t>prefill 块 64 → 512 使 attention score workspace 从 192 MB 涨到 1536 MB，scratch 池另占约 460 MB。两者都经 request_state_bytes 计入 admission，配置过大时启动即 fail closed 而非请求中途 OOM。峰值 19958 / 24564 MiB。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01184"/>
            <a:ext cx="10881360" cy="102412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502005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066CC"/>
                </a:solidFill>
                <a:latin typeface="Microsoft YaHei"/>
              </a:rPr>
              <a:t>稳定性：不做交换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332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80" b="0">
                <a:solidFill>
                  <a:srgbClr val="5A6373"/>
                </a:solidFill>
                <a:latin typeface="Microsoft YaHei"/>
              </a:rPr>
              <a:t>每项改动接受前都需通过协议 12/12、公开功能 6/6 与干净 soak；两个在隔离测试中更快的候选因端到端无收益而被拒。没有任何改动只凭 kernel 数字被接受。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Microsoft YaHei"/>
              </a:rPr>
              <a:t>显存账本也决定了 bonus 边界：长上下文 65536 需 4923 MiB 而仅余 4606 MiB，131072 则无论如何不可能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Microsoft YaHei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Microsoft YaHei"/>
              </a:rPr>
              <a:t>已知限制与诚实边界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1D24"/>
                </a:solidFill>
                <a:latin typeface="Microsoft YaHei"/>
              </a:rPr>
              <a:t>以下每一项都写在 REPORT.md 中，不因影响观感而省略。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Microsoft YaHei"/>
              </a:rPr>
              <a:t>不能声称的结论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04872"/>
            <a:ext cx="5212080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无正式 scorer 产物 </a:t>
            </a:r>
            <a:r>
              <a:rPr sz="1200">
                <a:solidFill>
                  <a:srgbClr val="5A6373"/>
                </a:solidFill>
                <a:latin typeface="Microsoft YaHei"/>
              </a:rPr>
              <a:t>run_evaluation.py 需要平台批准的 --trajectory-reference（vLLM 对照），本机不存在；未使用 --capture 自捕获自评分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因此不声称 </a:t>
            </a:r>
            <a:r>
              <a:rPr sz="1200">
                <a:solidFill>
                  <a:srgbClr val="5A6373"/>
                </a:solidFill>
                <a:latin typeface="Microsoft YaHei"/>
              </a:rPr>
              <a:t>eligible=true、trajectory 得分、基础 100 分，或任何多模态得分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no_xid 为间接证据 </a:t>
            </a:r>
            <a:r>
              <a:rPr sz="1200">
                <a:solidFill>
                  <a:srgbClr val="5A6373"/>
                </a:solidFill>
                <a:latin typeface="Microsoft YaHei"/>
              </a:rPr>
              <a:t>本机 dmesg 无读取权限，改以「服务日志零 CUDA 错误 + GPU 计数稳定」佐证，并明确标注为间接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hidden 用自建 proxy </a:t>
            </a:r>
            <a:r>
              <a:rPr sz="1200">
                <a:solidFill>
                  <a:srgbClr val="5A6373"/>
                </a:solidFill>
                <a:latin typeface="Microsoft YaHei"/>
              </a:rPr>
              <a:t>官方 hidden 集不可得，11/12 来自独立种子的代理集，已明确标注非官方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多模态官方套件不在本机 </a:t>
            </a:r>
            <a:r>
              <a:rPr sz="1200">
                <a:solidFill>
                  <a:srgbClr val="5A6373"/>
                </a:solidFill>
                <a:latin typeface="Microsoft YaHei"/>
              </a:rPr>
              <a:t>「public 4/4」属平台运行项；自建 4 探针同构同格式但非官方公开集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574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Microsoft YaHei"/>
              </a:rPr>
              <a:t>性能与 bonus 的现实边界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04872"/>
            <a:ext cx="5212080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与合同标尺的距离 </a:t>
            </a:r>
            <a:r>
              <a:rPr sz="1200">
                <a:solidFill>
                  <a:srgbClr val="5A6373"/>
                </a:solidFill>
                <a:latin typeface="Microsoft YaHei"/>
              </a:rPr>
              <a:t>prefill 距算术下限约 4.8 倍（1K），decode 距带宽下限约 3.3 倍；TTFT/TPOT 的 60 分按同轮最优参考计分，本实现难以取得动态分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decode 已到局部最优 </a:t>
            </a:r>
            <a:r>
              <a:rPr sz="1200">
                <a:solidFill>
                  <a:srgbClr val="5A6373"/>
                </a:solidFill>
                <a:latin typeface="Microsoft YaHei"/>
              </a:rPr>
              <a:t>五次尝试全部失败，反汇编证明 M=1 GEMV 受延迟而非吞吐限制；要突破需 M ≥ 8 的融合 dequant-MMA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长上下文封顶 3.33 分 </a:t>
            </a:r>
            <a:r>
              <a:rPr sz="1200">
                <a:solidFill>
                  <a:srgbClr val="5A6373"/>
                </a:solidFill>
                <a:latin typeface="Microsoft YaHei"/>
              </a:rPr>
              <a:t>65536 需 4923 MiB、可用 4606 MiB；131072 需 9403 MiB，即便 INT8 KV 也不可行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C8 与 MTP 未交付 </a:t>
            </a:r>
            <a:r>
              <a:rPr sz="1200">
                <a:solidFill>
                  <a:srgbClr val="5A6373"/>
                </a:solidFill>
                <a:latin typeface="Microsoft YaHei"/>
              </a:rPr>
              <a:t>C4 已交付；C8 差在显存——8 份完整请求态需 4.1 GiB，超出 2.36 GiB 预算，共享 scratch 的路径已量化但未实现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Microsoft YaHei"/>
              </a:rPr>
              <a:t>PR review 的「分析与决策」正建立在这些负结果之上：八项拒绝各有数据与根因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Microsoft YaHei"/>
              </a:rPr>
              <a:t>BONUS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Microsoft YaHei"/>
              </a:rPr>
              <a:t>多模态 bonus：完整交付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1D24"/>
                </a:solidFill>
                <a:latin typeface="Microsoft YaHei"/>
              </a:rPr>
              <a:t>完整 vision 路径 + POST /v1/chat/completions 已接入服务；APXINF_ENABLE_MULTIMODAL=1 单开关启用，默认文本配置行为与数值零变化。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6654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E8A4F"/>
                </a:solidFill>
                <a:latin typeface="Microsoft YaHei"/>
              </a:rPr>
              <a:t>正确性证据链（每阶段取可得的最强判据）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14016"/>
            <a:ext cx="5212080" cy="387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预处理位相等 </a:t>
            </a:r>
            <a:r>
              <a:rPr sz="1200">
                <a:solidFill>
                  <a:srgbClr val="5A6373"/>
                </a:solidFill>
                <a:latin typeface="Microsoft YaHei"/>
              </a:rPr>
              <a:t>PNG 解码 + patchify 与 HF processor 输出逐位一致：1,204,224 个 f32 零差异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prompt token 级精确 </a:t>
            </a:r>
            <a:r>
              <a:rPr sz="1200">
                <a:solidFill>
                  <a:srgbClr val="5A6373"/>
                </a:solidFill>
                <a:latin typeface="Microsoft YaHei"/>
              </a:rPr>
              <a:t>模板渲染 + tokenize + image-pad 展开与 Qwen3VLProcessor 在全部 4 个探针上完全一致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vision 塔对齐 oracle </a:t>
            </a:r>
            <a:r>
              <a:rPr sz="1200">
                <a:solidFill>
                  <a:srgbClr val="5A6373"/>
                </a:solidFill>
                <a:latin typeface="Microsoft YaHei"/>
              </a:rPr>
              <a:t>27 块 CUDA BF16 对 FP32 golden 漂移 1.2–8%（离群通道），merged [196,5120] 余弦 0.99972，merger LayerNorm 重归一化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新 kernel 有位相等回归 </a:t>
            </a:r>
            <a:r>
              <a:rPr sz="1200">
                <a:solidFill>
                  <a:srgbClr val="5A6373"/>
                </a:solidFill>
                <a:latin typeface="Microsoft YaHei"/>
              </a:rPr>
              <a:t>宽 head_dim SDPA 在 64 处与旧 kernel 逐位一致；merger 用 erf-GELU（非 tanh），对照 HF 源码核实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6654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66CC"/>
                </a:solidFill>
                <a:latin typeface="Microsoft YaHei"/>
              </a:rPr>
              <a:t>端到端实测（指定 GPU、严格服务）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14016"/>
            <a:ext cx="5212080" cy="387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自建图片探针 4/4 精确 </a:t>
            </a:r>
            <a:r>
              <a:rPr sz="1200">
                <a:solidFill>
                  <a:srgbClr val="5A6373"/>
                </a:solidFill>
                <a:latin typeface="Microsoft YaHei"/>
              </a:rPr>
              <a:t>四个合同类别各一："382" / "red" / "12" / "5"，单请求端到端 1–2 s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文本门禁在多模态服务复验 </a:t>
            </a:r>
            <a:r>
              <a:rPr sz="1200">
                <a:solidFill>
                  <a:srgbClr val="5A6373"/>
                </a:solidFill>
                <a:latin typeface="Microsoft YaHei"/>
              </a:rPr>
              <a:t>协议 12/12、公开功能 6/6、混合图文 soak 36/36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文本数值零变化 </a:t>
            </a:r>
            <a:r>
              <a:rPr sz="1200">
                <a:solidFill>
                  <a:srgbClr val="5A6373"/>
                </a:solidFill>
                <a:latin typeface="Microsoft YaHei"/>
              </a:rPr>
              <a:t>冻结 128-token 请求输出与文本配置逐字节一致（三方 SHA 相同）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显存过账 </a:t>
            </a:r>
            <a:r>
              <a:rPr sz="1200">
                <a:solidFill>
                  <a:srgbClr val="5A6373"/>
                </a:solidFill>
                <a:latin typeface="Microsoft YaHei"/>
              </a:rPr>
              <a:t>vision 塔 ~956 MiB 常驻，multimodal 下 prefill chunk 自动降为 256，峰值 20914 / 24564 MiB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38928"/>
            <a:ext cx="10881360" cy="100584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5266944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0392B"/>
                </a:solidFill>
                <a:latin typeface="Microsoft YaHei"/>
              </a:rPr>
              <a:t>得分口径如实说明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官方图片套件（生成器 / 公开图 / 答案）不在本机，「public 4/4」属平台运行项；自建 4 探针与合同同构同格式但非官方公开集，因此不声称任何多模态得分。能力关闭时按合同 fail closed：HTTP 400 + error.type=unsupported_capability（并修复了此前该路径返回 404 的不合规行为）。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Microsoft YaHei"/>
              </a:rPr>
              <a:t>回滚 = 取消 APXINF_ENABLE_MULTIMODAL 单开关；文本 layer-1/layer-2 全部性能数字均在无该开关的配置下测得，不受影响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Microsoft YaHei"/>
              </a:rPr>
              <a:t>BONUS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Microsoft YaHei"/>
              </a:rPr>
              <a:t>多请求 bonus：C4 四路并发交付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1D24"/>
                </a:solidFill>
                <a:latin typeface="Microsoft YaHei"/>
              </a:rPr>
              <a:t>批式 protocol runtime 仅在 APXINF_Q35_MAX_CONCURRENCY&gt;1 时启用，默认单请求路径零改动；官方 evaluator 校准 run 全部效度门通过。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6654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E8A4F"/>
                </a:solidFill>
                <a:latin typeface="Microsoft YaHei"/>
              </a:rPr>
              <a:t>实现要点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14016"/>
            <a:ext cx="5212080" cy="387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批式调度 </a:t>
            </a:r>
            <a:r>
              <a:rPr sz="1200">
                <a:solidFill>
                  <a:srgbClr val="5A6373"/>
                </a:solidFill>
                <a:latin typeface="Microsoft YaHei"/>
              </a:rPr>
              <a:t>admission 4 permits + 单 batch worker，每轮一步批式 decode；两阶段交付修复 17 µs 窗口内 permit 未释放导致的 503 竞态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批式 kernel 位相等 </a:t>
            </a:r>
            <a:r>
              <a:rPr sz="1200">
                <a:solidFill>
                  <a:srgbClr val="5A6373"/>
                </a:solidFill>
                <a:latin typeface="Microsoft YaHei"/>
              </a:rPr>
              <a:t>GDN conv/recurrent、partial RoPE 的批式版与串行路径逐字节一致（真实权重多步回归断言）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prefix cache + 会话回收池 </a:t>
            </a:r>
            <a:r>
              <a:rPr sz="1200">
                <a:solidFill>
                  <a:srgbClr val="5A6373"/>
                </a:solidFill>
                <a:latin typeface="Microsoft YaHei"/>
              </a:rPr>
              <a:t>相同 prompt 从模板 fork 约 2 ms；cudaMallocAsync 流序分配把冷 fork 从 330 ms 降到个位数 ms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单请求零回归 </a:t>
            </a:r>
            <a:r>
              <a:rPr sz="1200">
                <a:solidFill>
                  <a:srgbClr val="5A6373"/>
                </a:solidFill>
                <a:latin typeface="Microsoft YaHei"/>
              </a:rPr>
              <a:t>TPOT 62-68 ms 在冻结基线带内，冻结输出字节不变；batch=1 自动走原串行路径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6654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66CC"/>
                </a:solidFill>
                <a:latin typeface="Microsoft YaHei"/>
              </a:rPr>
              <a:t>官方校准结果（multi-c4-text-perf-1024）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432304"/>
            <a:ext cx="5212080" cy="310896"/>
          </a:xfrm>
          <a:prstGeom prst="roundRect">
            <a:avLst>
              <a:gd name="adj" fmla="val 4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91656" y="2432304"/>
            <a:ext cx="19385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94776" y="2432304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9256" y="2432304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门槛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743200"/>
            <a:ext cx="19385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success / correctness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94776" y="2743200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1.0 / 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49256" y="2743200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= 1.0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054096"/>
            <a:ext cx="5212080" cy="310896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91656" y="3054096"/>
            <a:ext cx="19385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Jain 公平性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3054096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0.9993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9256" y="3054096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&gt;= 0.95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364992"/>
            <a:ext cx="19385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p95 TTFT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6" y="3364992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1.789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9256" y="3364992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&lt;= 2.496 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675888"/>
            <a:ext cx="5212080" cy="310896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91656" y="3675888"/>
            <a:ext cx="19385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p95 TPOT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4776" y="3675888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173.9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9256" y="3675888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&lt;= 186.9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3986784"/>
            <a:ext cx="19385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goodput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3986784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23.53 tok/s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9256" y="3986784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计分指标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297680"/>
            <a:ext cx="5212080" cy="310896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91656" y="4297680"/>
            <a:ext cx="19385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Microsoft YaHei"/>
              </a:rPr>
              <a:t>no_fallback / 健康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4776" y="4297680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true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9256" y="4297680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Consolas"/>
              </a:rPr>
              <a:t>必须为真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138928"/>
            <a:ext cx="10881360" cy="100584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68680" y="5266944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0392B"/>
                </a:solidFill>
                <a:latin typeface="Microsoft YaHei"/>
              </a:rPr>
              <a:t>C8 边界如实说明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C8 卡在显存而非调度：8 份完整请求态（每份 KV 72 MiB + GDN 443 MiB）需 4.1 GiB，超出 2.36 GiB 的 admission 预算。共享 GDN scratch 后每份可降至约 295 MiB、算术上可入场，但该改造未实现，因此不声称 C8。调度器、admission 与批式 kernel 均已按并发数参数化。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Microsoft YaHei"/>
              </a:rPr>
              <a:t>回滚 = 不设 APXINF_Q35_MAX_CONCURRENCY（或 =1）即恢复精确的冻结单请求 runtime；并发同批 32 请求全部 200，无 503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Microsoft YaHei"/>
              </a:rPr>
              <a:t>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Microsoft YaHei"/>
              </a:rPr>
              <a:t>可复现性与提交材料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847088"/>
          </a:xfrm>
          <a:prstGeom prst="roundRect">
            <a:avLst>
              <a:gd name="adj" fmla="val 4000"/>
            </a:avLst>
          </a:prstGeom>
          <a:solidFill>
            <a:srgbClr val="1A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682496"/>
            <a:ext cx="1033272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EC8FF"/>
                </a:solidFill>
                <a:latin typeface="Consolas"/>
              </a:rPr>
              <a:t># 提交 commit（验收以此为准）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E6EAF0"/>
                </a:solidFill>
                <a:latin typeface="Consolas"/>
              </a:rPr>
              <a:t>06993a2d2642c6f7177b57493b797d5d537e4d64    branch: integrate/member2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E6EA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E6EAF0"/>
                </a:solidFill>
                <a:latin typeface="Consolas"/>
              </a:rPr>
              <a:t>python3 benchmarks/qwen38_4090/evaluation/test.py check      # → assignment checks passed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E6EAF0"/>
                </a:solidFill>
                <a:latin typeface="Consolas"/>
              </a:rPr>
              <a:t>cargo build --release --features cuda-no-nvtx --locked --bin apxinf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E6EAF0"/>
                </a:solidFill>
                <a:latin typeface="Consolas"/>
              </a:rPr>
              <a:t>target/release/apxinf serve --model &lt;ckpt&gt; --revision 63768c10... --gpu-uuid GPU-343bc895...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E6EAF0"/>
                </a:solidFill>
                <a:latin typeface="Consolas"/>
              </a:rPr>
              <a:t>APXINF_ENABLE_MULTIMODAL=1 target/release/apxinf serve ...   # 多模态配置（可选，单开关）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E6EAF0"/>
                </a:solidFill>
                <a:latin typeface="Consolas"/>
              </a:rPr>
              <a:t>APXINF_Q35_MAX_CONCURRENCY=4 ... serve ... --queue-capacity 4  # C4 并发配置（可选，单开关）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66CC"/>
                </a:solidFill>
                <a:latin typeface="Microsoft YaHei"/>
              </a:rPr>
              <a:t>提交材料对应关系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13632"/>
            <a:ext cx="5212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设计变化与执行阶段 </a:t>
            </a:r>
            <a:r>
              <a:rPr sz="1200">
                <a:solidFill>
                  <a:srgbClr val="5A6373"/>
                </a:solidFill>
                <a:latin typeface="Microsoft YaHei"/>
              </a:rPr>
              <a:t>REPORT.md 按第一层/第二层分节，逐项记录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test.py check / run </a:t>
            </a:r>
            <a:r>
              <a:rPr sz="1200">
                <a:solidFill>
                  <a:srgbClr val="5A6373"/>
                </a:solidFill>
                <a:latin typeface="Microsoft YaHei"/>
              </a:rPr>
              <a:t>check 已通过并留存日志；run 因缺批准 reference 无法产出评分件，已如实说明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负控制与回归测试 </a:t>
            </a:r>
            <a:r>
              <a:rPr sz="1200">
                <a:solidFill>
                  <a:srgbClr val="5A6373"/>
                </a:solidFill>
                <a:latin typeface="Microsoft YaHei"/>
              </a:rPr>
              <a:t>7 个协议负控、3 个断连故障注入、9 组数值回归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取舍与限制 </a:t>
            </a:r>
            <a:r>
              <a:rPr sz="1200">
                <a:solidFill>
                  <a:srgbClr val="5A6373"/>
                </a:solidFill>
                <a:latin typeface="Microsoft YaHei"/>
              </a:rPr>
              <a:t>REPORT.md 专设 Trade-offs 与 Limits 两节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56616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66CC"/>
                </a:solidFill>
                <a:latin typeface="Microsoft YaHei"/>
              </a:rPr>
              <a:t>回滚能力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913632"/>
            <a:ext cx="5212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每项优化独立可关 </a:t>
            </a:r>
            <a:r>
              <a:rPr sz="1200">
                <a:solidFill>
                  <a:srgbClr val="5A6373"/>
                </a:solidFill>
                <a:latin typeface="Microsoft YaHei"/>
              </a:rPr>
              <a:t>APXINF_Q35_W4_PREFILL_GEMM / W4_PACKED_GEMV / BATCHED_SDPA / SCRATCH_POOL / PREFILL_CHUNK / ROWWISE_SOFTMAX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bonus 均单开关 </a:t>
            </a:r>
            <a:r>
              <a:rPr sz="1200">
                <a:solidFill>
                  <a:srgbClr val="5A6373"/>
                </a:solidFill>
                <a:latin typeface="Microsoft YaHei"/>
              </a:rPr>
              <a:t>APXINF_ENABLE_MULTIMODAL 与 APXINF_Q35_MAX_CONCURRENCY 都不设时，行为即纯文本单请求提交件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被拒候选保留在树中 </a:t>
            </a:r>
            <a:r>
              <a:rPr sz="1200">
                <a:solidFill>
                  <a:srgbClr val="5A6373"/>
                </a:solidFill>
                <a:latin typeface="Microsoft YaHei"/>
              </a:rPr>
              <a:t>默认关闭并附回归测试，作为负结果证据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回滚点 </a:t>
            </a:r>
            <a:r>
              <a:rPr sz="1200">
                <a:solidFill>
                  <a:srgbClr val="5A6373"/>
                </a:solidFill>
                <a:latin typeface="Microsoft YaHei"/>
              </a:rPr>
              <a:t>47ec280d2f88e8daf87750c0957e596e3a5390c1（集成前 HEAD）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— 清洁性 </a:t>
            </a:r>
            <a:r>
              <a:rPr sz="1200">
                <a:solidFill>
                  <a:srgbClr val="5A6373"/>
                </a:solidFill>
                <a:latin typeface="Microsoft YaHei"/>
              </a:rPr>
              <a:t>cargo fmt --check、cargo check --workspace --locked、git diff --check 全绿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Microsoft YaHei"/>
              </a:rPr>
              <a:t>未提交模型权重、凭据、机器地址或未公开评测数据；submission.json 的图片字段未手工填写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Microsoft YaHei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Microsoft YaHei"/>
              </a:rPr>
              <a:t>分工说明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1D24"/>
                </a:solidFill>
                <a:latin typeface="Microsoft YaHei"/>
              </a:rPr>
              <a:t>两人团队。主线实现由本人完成，另一位成员交付离线 benchmark 脚手架。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21408"/>
            <a:ext cx="3108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6384" y="2249424"/>
            <a:ext cx="28163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0066CC"/>
                </a:solidFill>
                <a:latin typeface="Microsoft YaHei"/>
              </a:rP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34640"/>
            <a:ext cx="28163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程仁龙（本人）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090672"/>
            <a:ext cx="2816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3"/>
                </a:solidFill>
                <a:latin typeface="Microsoft YaHei"/>
              </a:rPr>
              <a:t>模型 / kernel / 服务 / 性能 / 双 bonus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121408"/>
            <a:ext cx="3108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23943" y="2249424"/>
            <a:ext cx="28163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5A6373"/>
                </a:solidFill>
                <a:latin typeface="Microsoft YaHei"/>
              </a:rPr>
              <a:t>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3943" y="2834640"/>
            <a:ext cx="28163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Microsoft YaHei"/>
              </a:rPr>
              <a:t>王天民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3943" y="3090672"/>
            <a:ext cx="2816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3"/>
                </a:solidFill>
                <a:latin typeface="Microsoft YaHei"/>
              </a:rPr>
              <a:t>离线 benchmark 脚手架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176272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5A6373"/>
                </a:solidFill>
                <a:latin typeface="Microsoft YaHei"/>
              </a:rPr>
              <a:t>王天民交付部分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505456"/>
            <a:ext cx="3977639" cy="3785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· shape inventory 脚本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· experiment validator 脚本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· campaign manifest 与 README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· 协作交接记录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94176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66CC"/>
                </a:solidFill>
                <a:latin typeface="Microsoft YaHei"/>
              </a:rPr>
              <a:t>本人实际承担的范围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59936"/>
            <a:ext cx="534924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8" y="4169664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66CC"/>
                </a:solidFill>
                <a:latin typeface="Microsoft YaHei"/>
              </a:rPr>
              <a:t>模型与 kernel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443984"/>
            <a:ext cx="4937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Qwen3.8 config / loader / weights，48 层 GDN 与 16 层全注意力的 CUDA 实现，W4A16 解包与 GEMM / GEMV kernel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059936"/>
            <a:ext cx="534924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73368" y="4169664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66CC"/>
                </a:solidFill>
                <a:latin typeface="Microsoft YaHei"/>
              </a:rPr>
              <a:t>服务与协议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43984"/>
            <a:ext cx="4937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HTTP / SSE surface、七项负控、admission、断连取消与故障恢复，/v1/chat/completions 图文入口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92624"/>
            <a:ext cx="534924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8" y="5102352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66CC"/>
                </a:solidFill>
                <a:latin typeface="Microsoft YaHei"/>
              </a:rPr>
              <a:t>正确性证据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376672"/>
            <a:ext cx="4937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离线 oracle（文本 + vision）、hidden 代理集、逐层对拍与位相等断言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992624"/>
            <a:ext cx="534924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73368" y="5102352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66CC"/>
                </a:solidFill>
                <a:latin typeface="Microsoft YaHei"/>
              </a:rPr>
              <a:t>性能工程与双 bonus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5376672"/>
            <a:ext cx="4937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5A6373"/>
                </a:solidFill>
                <a:latin typeface="Microsoft YaHei"/>
              </a:rPr>
              <a:t>十七次配对实验、显存账本、vision 塔 CUDA 移植、C4 批式调度与批式 kernel、REPORT.md、最终集成与提交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Microsoft YaHei"/>
              </a:rPr>
              <a:t>比例依据 git 提交记录；原计划的多人并行 lane 实际退化为单人串行，但带锁 GPU 队列与单卡正式重放的纪律始终执行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4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123444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FC2F0"/>
                </a:solidFill>
                <a:latin typeface="Microsoft YaHei"/>
              </a:rPr>
              <a:t>为什么叫「4090 能飞」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719072"/>
            <a:ext cx="101498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让它飞起来的不是更强的硬件，是看清了瓶颈的真实位置。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C5D9EE"/>
                </a:solidFill>
                <a:latin typeface="Microsoft YaHei"/>
              </a:rPr>
              <a:t>三个最大的瓶颈都不在算术里：softmax 每个线程重复扫描整行、W4 投影每行重读整个权重矩阵、80% 的 prefill 花在 cudaMalloc。代码没换硬件、没换算法，只是终于测对了地方 —— TTFT 约 47 倍、TPOT 约 2 倍，correctness 与稳定性全程未退让。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4114800"/>
            <a:ext cx="3246120" cy="1371600"/>
          </a:xfrm>
          <a:prstGeom prst="roundRect">
            <a:avLst>
              <a:gd name="adj" fmla="val 4000"/>
            </a:avLst>
          </a:prstGeom>
          <a:solidFill>
            <a:srgbClr val="16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207008" y="42976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FC2F0"/>
                </a:solidFill>
                <a:latin typeface="Microsoft YaHei"/>
              </a:rPr>
              <a:t>最大的单点收益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4626864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行协作 softmax：16K attention 单层 23.06 s → 0.659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114800"/>
            <a:ext cx="3246120" cy="1371600"/>
          </a:xfrm>
          <a:prstGeom prst="roundRect">
            <a:avLst>
              <a:gd name="adj" fmla="val 4000"/>
            </a:avLst>
          </a:prstGeom>
          <a:solidFill>
            <a:srgbClr val="16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36008" y="42976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FC2F0"/>
                </a:solidFill>
                <a:latin typeface="Microsoft YaHei"/>
              </a:rPr>
              <a:t>最有价值的负结果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4626864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Marlin 位技巧在 M=1 GEMV 慢 54%，反汇编级根因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114800"/>
            <a:ext cx="3246120" cy="1371600"/>
          </a:xfrm>
          <a:prstGeom prst="roundRect">
            <a:avLst>
              <a:gd name="adj" fmla="val 4000"/>
            </a:avLst>
          </a:prstGeom>
          <a:solidFill>
            <a:srgbClr val="16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65008" y="42976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FC2F0"/>
                </a:solidFill>
                <a:latin typeface="Microsoft YaHei"/>
              </a:rPr>
              <a:t>最关键的方法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4626864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低于 5% 的结论必须双卡双副本复测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94360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C2F0"/>
                </a:solidFill>
                <a:latin typeface="Consolas"/>
              </a:rPr>
              <a:t>commit 06993a2d2642c6f7177b57493b797d5d537e4d64 · branch integrate/member2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